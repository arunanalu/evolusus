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6" r:id="rId7"/>
    <p:sldId id="268" r:id="rId8"/>
    <p:sldId id="269" r:id="rId9"/>
    <p:sldId id="267" r:id="rId10"/>
    <p:sldId id="270" r:id="rId11"/>
    <p:sldId id="272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7FBB"/>
    <a:srgbClr val="21AC83"/>
    <a:srgbClr val="005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8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1.globo.com/sp/sao-paulo/noticia/2025/07/17/14-mil-pacientes-em-upas-e-corredores-de-hospital-aguardam-por-leito-na-cidade-de-sp.g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7178B301-F014-CF7E-8562-ECC9321A8908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/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78BF04E-0A63-19A2-54F0-C8D3A35E6AD2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4" name="Rectangle 3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6131" y="104150"/>
            <a:ext cx="54928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Evolução e Saúde Juntas</a:t>
            </a:r>
            <a:endParaRPr sz="2800" b="1" i="1" dirty="0">
              <a:solidFill>
                <a:schemeClr val="bg1"/>
              </a:solidFill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640376F0-C847-F9DE-2F0D-151E75B28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4" y="1450107"/>
            <a:ext cx="4739489" cy="4739489"/>
          </a:xfrm>
          <a:prstGeom prst="rect">
            <a:avLst/>
          </a:prstGeom>
        </p:spPr>
      </p:pic>
      <p:sp>
        <p:nvSpPr>
          <p:cNvPr id="33" name="TextBox 4">
            <a:extLst>
              <a:ext uri="{FF2B5EF4-FFF2-40B4-BE49-F238E27FC236}">
                <a16:creationId xmlns:a16="http://schemas.microsoft.com/office/drawing/2014/main" id="{BF2F240A-BAEF-2B01-4F5F-7F59E549BB5E}"/>
              </a:ext>
            </a:extLst>
          </p:cNvPr>
          <p:cNvSpPr txBox="1"/>
          <p:nvPr/>
        </p:nvSpPr>
        <p:spPr>
          <a:xfrm>
            <a:off x="5404923" y="1739653"/>
            <a:ext cx="325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005BAA"/>
                </a:solidFill>
              </a:rPr>
              <a:t>Integrantes:</a:t>
            </a:r>
          </a:p>
        </p:txBody>
      </p:sp>
      <p:sp>
        <p:nvSpPr>
          <p:cNvPr id="35" name="Seta: para a Direita Listrada 34">
            <a:extLst>
              <a:ext uri="{FF2B5EF4-FFF2-40B4-BE49-F238E27FC236}">
                <a16:creationId xmlns:a16="http://schemas.microsoft.com/office/drawing/2014/main" id="{417E3BE3-A94A-45EE-CA04-9ED81D097CE3}"/>
              </a:ext>
            </a:extLst>
          </p:cNvPr>
          <p:cNvSpPr>
            <a:spLocks noChangeAspect="1"/>
          </p:cNvSpPr>
          <p:nvPr/>
        </p:nvSpPr>
        <p:spPr>
          <a:xfrm>
            <a:off x="4942580" y="1837852"/>
            <a:ext cx="468000" cy="350375"/>
          </a:xfrm>
          <a:prstGeom prst="stripedRightArrow">
            <a:avLst/>
          </a:prstGeom>
          <a:solidFill>
            <a:srgbClr val="21AC83"/>
          </a:solidFill>
          <a:ln>
            <a:solidFill>
              <a:srgbClr val="117FBB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1F0ECCC-B444-05FC-BE4D-DE482EA6C5B2}"/>
              </a:ext>
            </a:extLst>
          </p:cNvPr>
          <p:cNvSpPr txBox="1"/>
          <p:nvPr/>
        </p:nvSpPr>
        <p:spPr>
          <a:xfrm>
            <a:off x="4843603" y="2318478"/>
            <a:ext cx="35043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005BAA"/>
                </a:solidFill>
              </a:rPr>
              <a:t>Gabriel </a:t>
            </a:r>
            <a:r>
              <a:rPr lang="pt-BR" sz="1400" b="1" dirty="0" err="1">
                <a:solidFill>
                  <a:srgbClr val="005BAA"/>
                </a:solidFill>
              </a:rPr>
              <a:t>Bonfadini</a:t>
            </a:r>
            <a:r>
              <a:rPr lang="pt-BR" sz="1400" b="1" dirty="0">
                <a:solidFill>
                  <a:srgbClr val="005BAA"/>
                </a:solidFill>
              </a:rPr>
              <a:t> (May) - </a:t>
            </a:r>
            <a:r>
              <a:rPr lang="pt-BR" sz="1200" b="1" i="1" dirty="0">
                <a:solidFill>
                  <a:srgbClr val="005BAA"/>
                </a:solidFill>
              </a:rPr>
              <a:t>RM56927</a:t>
            </a:r>
            <a:r>
              <a:rPr lang="pt-BR" sz="1400" b="1" dirty="0">
                <a:solidFill>
                  <a:srgbClr val="005BAA"/>
                </a:solidFill>
              </a:rPr>
              <a:t>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005BAA"/>
                </a:solidFill>
              </a:rPr>
              <a:t>Lucas Matheus - </a:t>
            </a:r>
            <a:r>
              <a:rPr lang="pt-BR" sz="1200" b="1" i="1" dirty="0">
                <a:solidFill>
                  <a:srgbClr val="005BAA"/>
                </a:solidFill>
              </a:rPr>
              <a:t>RM570033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005BAA"/>
                </a:solidFill>
              </a:rPr>
              <a:t>Pedro Bataglia - </a:t>
            </a:r>
            <a:r>
              <a:rPr lang="pt-BR" sz="1200" b="1" i="1" dirty="0">
                <a:solidFill>
                  <a:srgbClr val="005BAA"/>
                </a:solidFill>
              </a:rPr>
              <a:t>RM568794</a:t>
            </a:r>
            <a:r>
              <a:rPr lang="pt-BR" sz="1400" b="1" dirty="0">
                <a:solidFill>
                  <a:srgbClr val="005BAA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005BAA"/>
                </a:solidFill>
              </a:rPr>
              <a:t>Victor Guida - </a:t>
            </a:r>
            <a:r>
              <a:rPr lang="pt-BR" sz="1200" b="1" i="1" dirty="0">
                <a:solidFill>
                  <a:srgbClr val="005BAA"/>
                </a:solidFill>
              </a:rPr>
              <a:t>RM569140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005BAA"/>
                </a:solidFill>
              </a:rPr>
              <a:t>Isaque Bibiano</a:t>
            </a:r>
            <a:r>
              <a:rPr lang="pt-BR" sz="1200" b="1" dirty="0">
                <a:solidFill>
                  <a:srgbClr val="005BAA"/>
                </a:solidFill>
              </a:rPr>
              <a:t> </a:t>
            </a:r>
            <a:r>
              <a:rPr lang="pt-BR" sz="1200" b="1" i="1" dirty="0">
                <a:solidFill>
                  <a:srgbClr val="005BAA"/>
                </a:solidFill>
              </a:rPr>
              <a:t>- RM569484</a:t>
            </a:r>
            <a:endParaRPr lang="pt-BR" sz="1400" b="1" i="1" dirty="0">
              <a:solidFill>
                <a:srgbClr val="005BAA"/>
              </a:solidFill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89E1D101-CC28-947B-A563-A95DAC32CC25}"/>
              </a:ext>
            </a:extLst>
          </p:cNvPr>
          <p:cNvSpPr txBox="1"/>
          <p:nvPr/>
        </p:nvSpPr>
        <p:spPr>
          <a:xfrm>
            <a:off x="4391902" y="4535259"/>
            <a:ext cx="4739489" cy="7386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pt-BR" sz="1400" b="1" i="1" dirty="0">
                <a:solidFill>
                  <a:srgbClr val="005BAA"/>
                </a:solidFill>
              </a:rPr>
              <a:t>O </a:t>
            </a:r>
            <a:r>
              <a:rPr lang="pt-BR" sz="1400" b="1" i="1" dirty="0">
                <a:solidFill>
                  <a:srgbClr val="21AC83"/>
                </a:solidFill>
              </a:rPr>
              <a:t>Brasil</a:t>
            </a:r>
            <a:r>
              <a:rPr lang="pt-BR" sz="1400" b="1" i="1" dirty="0">
                <a:solidFill>
                  <a:srgbClr val="005BAA"/>
                </a:solidFill>
              </a:rPr>
              <a:t> é um organismo vivo, muda e cresce organicamente. </a:t>
            </a:r>
          </a:p>
          <a:p>
            <a:pPr algn="r"/>
            <a:r>
              <a:rPr lang="pt-BR" sz="1400" b="1" i="1" dirty="0">
                <a:solidFill>
                  <a:srgbClr val="005BAA"/>
                </a:solidFill>
              </a:rPr>
              <a:t>O SUS assumiu o compromisso de corresponder ao povo, </a:t>
            </a:r>
          </a:p>
          <a:p>
            <a:pPr algn="r"/>
            <a:r>
              <a:rPr lang="pt-BR" sz="1400" b="1" i="1" dirty="0">
                <a:solidFill>
                  <a:srgbClr val="005BAA"/>
                </a:solidFill>
              </a:rPr>
              <a:t>logo ele </a:t>
            </a:r>
            <a:r>
              <a:rPr lang="pt-BR" sz="1400" b="1" i="1" u="sng" dirty="0">
                <a:solidFill>
                  <a:srgbClr val="005BAA"/>
                </a:solidFill>
              </a:rPr>
              <a:t>precisa ser um organismo vivo também</a:t>
            </a:r>
            <a:r>
              <a:rPr lang="pt-BR" sz="1400" b="1" i="1" dirty="0">
                <a:solidFill>
                  <a:srgbClr val="005BA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06851-EBC6-D0DD-812D-9FFA3646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F13349E-EC03-89E1-57C5-809F55E24991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BA7EE2F-E669-E9AE-4D03-4540CAEE51FD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2562A98-4768-CAD3-DFC1-3A612AE38EAE}"/>
                </a:ext>
              </a:extLst>
            </p:cNvPr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8B400173-56AD-2270-798B-FE89786D448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02ECD89-CB8F-9460-F1D8-FA329D8D43F7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85DB3-53C0-AB43-9ACB-39174AE2FE9B}"/>
              </a:ext>
            </a:extLst>
          </p:cNvPr>
          <p:cNvSpPr txBox="1"/>
          <p:nvPr/>
        </p:nvSpPr>
        <p:spPr>
          <a:xfrm>
            <a:off x="276131" y="104150"/>
            <a:ext cx="54928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Evolução e Saúde Juntas</a:t>
            </a:r>
            <a:endParaRPr sz="2800" b="1" i="1" dirty="0">
              <a:solidFill>
                <a:schemeClr val="bg1"/>
              </a:solidFill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0341E49A-297D-C30F-2427-0F24F8CDEC74}"/>
              </a:ext>
            </a:extLst>
          </p:cNvPr>
          <p:cNvSpPr txBox="1"/>
          <p:nvPr/>
        </p:nvSpPr>
        <p:spPr>
          <a:xfrm>
            <a:off x="523398" y="1682880"/>
            <a:ext cx="816340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5BAA"/>
                </a:solidFill>
              </a:rPr>
              <a:t>Desde a criação do Sistema Único de Saúde (SUS), em 1988, o Brasil passou por </a:t>
            </a:r>
            <a:r>
              <a:rPr lang="pt-BR" sz="1400" b="1" dirty="0">
                <a:solidFill>
                  <a:srgbClr val="005BAA"/>
                </a:solidFill>
              </a:rPr>
              <a:t>profundas transformações </a:t>
            </a:r>
            <a:r>
              <a:rPr lang="pt-BR" sz="1400" dirty="0">
                <a:solidFill>
                  <a:srgbClr val="005BAA"/>
                </a:solidFill>
              </a:rPr>
              <a:t>demográficas, territoriais e epidemiológicas. Enquanto </a:t>
            </a:r>
            <a:r>
              <a:rPr lang="pt-BR" sz="1400" b="1" dirty="0">
                <a:solidFill>
                  <a:srgbClr val="005BAA"/>
                </a:solidFill>
              </a:rPr>
              <a:t>alguns</a:t>
            </a:r>
            <a:r>
              <a:rPr lang="pt-BR" sz="1400" dirty="0">
                <a:solidFill>
                  <a:srgbClr val="005BAA"/>
                </a:solidFill>
              </a:rPr>
              <a:t> municípios apresentaram </a:t>
            </a:r>
            <a:r>
              <a:rPr lang="pt-BR" sz="1400" b="1" dirty="0">
                <a:solidFill>
                  <a:srgbClr val="005BAA"/>
                </a:solidFill>
              </a:rPr>
              <a:t>acelerado crescimento populacional e expansão urbana</a:t>
            </a:r>
            <a:r>
              <a:rPr lang="pt-BR" sz="1400" dirty="0">
                <a:solidFill>
                  <a:srgbClr val="005BAA"/>
                </a:solidFill>
              </a:rPr>
              <a:t>, </a:t>
            </a:r>
            <a:r>
              <a:rPr lang="pt-BR" sz="1400" b="1" dirty="0">
                <a:solidFill>
                  <a:srgbClr val="005BAA"/>
                </a:solidFill>
              </a:rPr>
              <a:t>outros</a:t>
            </a:r>
            <a:r>
              <a:rPr lang="pt-BR" sz="1400" dirty="0">
                <a:solidFill>
                  <a:srgbClr val="005BAA"/>
                </a:solidFill>
              </a:rPr>
              <a:t> permaneceram </a:t>
            </a:r>
            <a:r>
              <a:rPr lang="pt-BR" sz="1400" b="1" dirty="0">
                <a:solidFill>
                  <a:srgbClr val="005BAA"/>
                </a:solidFill>
              </a:rPr>
              <a:t>estáveis ou enfrentaram processos de envelhecimento populacional e mudanças no perfil de adoecimento de seus habitantes</a:t>
            </a:r>
            <a:r>
              <a:rPr lang="pt-BR" sz="1400" dirty="0">
                <a:solidFill>
                  <a:srgbClr val="005BAA"/>
                </a:solidFill>
              </a:rPr>
              <a:t>.</a:t>
            </a:r>
          </a:p>
          <a:p>
            <a:r>
              <a:rPr lang="pt-BR" sz="1400" dirty="0">
                <a:solidFill>
                  <a:srgbClr val="005BAA"/>
                </a:solidFill>
              </a:rPr>
              <a:t>Diante desse cenário, surge a necessidade de compreender se a </a:t>
            </a:r>
            <a:r>
              <a:rPr lang="pt-BR" sz="1400" b="1" dirty="0">
                <a:solidFill>
                  <a:srgbClr val="005BAA"/>
                </a:solidFill>
              </a:rPr>
              <a:t>infraestrutura assistencial do SUS evoluiu de forma </a:t>
            </a:r>
            <a:r>
              <a:rPr lang="pt-BR" sz="1400" b="1" u="sng" dirty="0">
                <a:solidFill>
                  <a:srgbClr val="005BAA"/>
                </a:solidFill>
              </a:rPr>
              <a:t>compatível com essas transformações</a:t>
            </a:r>
            <a:r>
              <a:rPr lang="pt-BR" sz="1400" dirty="0">
                <a:solidFill>
                  <a:srgbClr val="005BAA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5B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>
                <a:solidFill>
                  <a:srgbClr val="005BAA"/>
                </a:solidFill>
              </a:rPr>
              <a:t>A distribuição de leitos, profissionais de saúde e serviços especializados acompanhou as novas demandas da população?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i="1" dirty="0">
              <a:solidFill>
                <a:srgbClr val="005B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>
                <a:solidFill>
                  <a:srgbClr val="005BAA"/>
                </a:solidFill>
              </a:rPr>
              <a:t>Determinadas regiões passaram a operar sob maior pressão assistencial devido ao descompasso entre capacidade instalada e necessidade de atendimento?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005BAA"/>
              </a:solidFill>
            </a:endParaRPr>
          </a:p>
          <a:p>
            <a:endParaRPr lang="pt-BR" sz="1400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Tendo isso em mente, busca-se avaliar a capacidade de </a:t>
            </a:r>
            <a:r>
              <a:rPr lang="pt-BR" sz="1400" b="1" dirty="0">
                <a:solidFill>
                  <a:srgbClr val="005BAA"/>
                </a:solidFill>
              </a:rPr>
              <a:t>adaptação do SUS às mudanças ocorridas no território brasileiro ao longo de mais de três décadas</a:t>
            </a:r>
            <a:r>
              <a:rPr lang="pt-BR" sz="1400" dirty="0">
                <a:solidFill>
                  <a:srgbClr val="005BAA"/>
                </a:solidFill>
              </a:rPr>
              <a:t>, identificando possíveis desigualdades regionais e oportunidades para </a:t>
            </a:r>
            <a:r>
              <a:rPr lang="pt-BR" sz="1400" b="1" u="sng" dirty="0">
                <a:solidFill>
                  <a:srgbClr val="005BAA"/>
                </a:solidFill>
              </a:rPr>
              <a:t>aprimoramento do planejamento em saúde pública</a:t>
            </a:r>
            <a:r>
              <a:rPr lang="pt-BR" sz="1400" dirty="0">
                <a:solidFill>
                  <a:srgbClr val="005BAA"/>
                </a:solidFill>
              </a:rPr>
              <a:t>.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411C57AA-FA61-C109-7DAD-1277C80838D7}"/>
              </a:ext>
            </a:extLst>
          </p:cNvPr>
          <p:cNvSpPr txBox="1"/>
          <p:nvPr/>
        </p:nvSpPr>
        <p:spPr>
          <a:xfrm>
            <a:off x="523398" y="1063681"/>
            <a:ext cx="4935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005BAA"/>
                </a:solidFill>
              </a:rPr>
              <a:t>Contextualização do Problema:</a:t>
            </a:r>
          </a:p>
        </p:txBody>
      </p:sp>
      <p:sp>
        <p:nvSpPr>
          <p:cNvPr id="17" name="Seta: para a Direita Listrada 16">
            <a:extLst>
              <a:ext uri="{FF2B5EF4-FFF2-40B4-BE49-F238E27FC236}">
                <a16:creationId xmlns:a16="http://schemas.microsoft.com/office/drawing/2014/main" id="{5D21B5E2-2451-F5B9-64E4-0FDEBCCC5276}"/>
              </a:ext>
            </a:extLst>
          </p:cNvPr>
          <p:cNvSpPr>
            <a:spLocks noChangeAspect="1"/>
          </p:cNvSpPr>
          <p:nvPr/>
        </p:nvSpPr>
        <p:spPr>
          <a:xfrm>
            <a:off x="61055" y="1161880"/>
            <a:ext cx="468000" cy="350375"/>
          </a:xfrm>
          <a:prstGeom prst="stripedRightArrow">
            <a:avLst/>
          </a:prstGeom>
          <a:solidFill>
            <a:srgbClr val="21AC83"/>
          </a:solidFill>
          <a:ln>
            <a:solidFill>
              <a:srgbClr val="117FBB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6466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7790-FE3A-82B5-4DB0-D20A065E4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C942370-5B7A-343D-810A-A8BF4C65935C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EFDAC41-1A40-ACE0-FE06-C0BAD74C5FB1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6080708-CFA8-7332-9CFE-16441E693F9B}"/>
                </a:ext>
              </a:extLst>
            </p:cNvPr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5E221BD0-0556-27D0-38D3-5B52B91A2ACC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F71CB63-1F93-ED4F-6157-17F47DF37934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53563-132B-90B9-7600-718EF73225CE}"/>
              </a:ext>
            </a:extLst>
          </p:cNvPr>
          <p:cNvSpPr txBox="1"/>
          <p:nvPr/>
        </p:nvSpPr>
        <p:spPr>
          <a:xfrm>
            <a:off x="276131" y="104150"/>
            <a:ext cx="54928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Evolução e Saúde Juntas</a:t>
            </a:r>
            <a:endParaRPr sz="2800" b="1" i="1" dirty="0">
              <a:solidFill>
                <a:schemeClr val="bg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AFB5D75C-DC68-4C0C-BFF6-BDC861FE9BD5}"/>
              </a:ext>
            </a:extLst>
          </p:cNvPr>
          <p:cNvSpPr txBox="1"/>
          <p:nvPr/>
        </p:nvSpPr>
        <p:spPr>
          <a:xfrm>
            <a:off x="523398" y="1063681"/>
            <a:ext cx="4935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005BAA"/>
                </a:solidFill>
              </a:rPr>
              <a:t>Problema a ser resolvido:</a:t>
            </a:r>
          </a:p>
        </p:txBody>
      </p:sp>
      <p:sp>
        <p:nvSpPr>
          <p:cNvPr id="13" name="Seta: para a Direita Listrada 12">
            <a:extLst>
              <a:ext uri="{FF2B5EF4-FFF2-40B4-BE49-F238E27FC236}">
                <a16:creationId xmlns:a16="http://schemas.microsoft.com/office/drawing/2014/main" id="{B98BBE1B-8CEA-12A3-691C-B415D964DD27}"/>
              </a:ext>
            </a:extLst>
          </p:cNvPr>
          <p:cNvSpPr>
            <a:spLocks noChangeAspect="1"/>
          </p:cNvSpPr>
          <p:nvPr/>
        </p:nvSpPr>
        <p:spPr>
          <a:xfrm>
            <a:off x="61055" y="1161880"/>
            <a:ext cx="468000" cy="350375"/>
          </a:xfrm>
          <a:prstGeom prst="stripedRightArrow">
            <a:avLst/>
          </a:prstGeom>
          <a:solidFill>
            <a:srgbClr val="21AC83"/>
          </a:solidFill>
          <a:ln>
            <a:solidFill>
              <a:srgbClr val="117FBB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B07D609E-B370-135D-062D-F188F6DC82E4}"/>
              </a:ext>
            </a:extLst>
          </p:cNvPr>
          <p:cNvSpPr txBox="1"/>
          <p:nvPr/>
        </p:nvSpPr>
        <p:spPr>
          <a:xfrm>
            <a:off x="523398" y="1682880"/>
            <a:ext cx="81634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5BAA"/>
                </a:solidFill>
              </a:rPr>
              <a:t>O problema central deste projeto consiste em </a:t>
            </a:r>
            <a:r>
              <a:rPr lang="pt-BR" sz="1400" b="1" dirty="0">
                <a:solidFill>
                  <a:srgbClr val="005BAA"/>
                </a:solidFill>
              </a:rPr>
              <a:t>identificar e mensurar se existe um </a:t>
            </a:r>
            <a:r>
              <a:rPr lang="pt-BR" sz="1400" b="1" u="sng" dirty="0">
                <a:solidFill>
                  <a:srgbClr val="005BAA"/>
                </a:solidFill>
              </a:rPr>
              <a:t>descompasso</a:t>
            </a:r>
            <a:r>
              <a:rPr lang="pt-BR" sz="1400" b="1" dirty="0">
                <a:solidFill>
                  <a:srgbClr val="005BAA"/>
                </a:solidFill>
              </a:rPr>
              <a:t> entre a capacidade instalada do SUS e a pressão assistencial exercida pela população nos </a:t>
            </a:r>
            <a:r>
              <a:rPr lang="pt-BR" sz="1400" b="1" u="sng" dirty="0">
                <a:solidFill>
                  <a:srgbClr val="005BAA"/>
                </a:solidFill>
              </a:rPr>
              <a:t>diferentes territórios brasileiros</a:t>
            </a:r>
            <a:r>
              <a:rPr lang="pt-BR" sz="1400" dirty="0">
                <a:solidFill>
                  <a:srgbClr val="005BAA"/>
                </a:solidFill>
              </a:rPr>
              <a:t>, bem como avaliar de que forma esse descompasso </a:t>
            </a:r>
            <a:r>
              <a:rPr lang="pt-BR" sz="1400" b="1" dirty="0">
                <a:solidFill>
                  <a:srgbClr val="005BAA"/>
                </a:solidFill>
              </a:rPr>
              <a:t>está relacionado aos </a:t>
            </a:r>
            <a:r>
              <a:rPr lang="pt-BR" sz="1400" b="1" u="sng" dirty="0">
                <a:solidFill>
                  <a:srgbClr val="005BAA"/>
                </a:solidFill>
              </a:rPr>
              <a:t>indicadores de mortalidade</a:t>
            </a:r>
            <a:r>
              <a:rPr lang="pt-BR" sz="1400" dirty="0">
                <a:solidFill>
                  <a:srgbClr val="005BAA"/>
                </a:solidFill>
              </a:rPr>
              <a:t>.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82E5E797-115E-0567-828C-19E4504270B3}"/>
              </a:ext>
            </a:extLst>
          </p:cNvPr>
          <p:cNvSpPr txBox="1"/>
          <p:nvPr/>
        </p:nvSpPr>
        <p:spPr>
          <a:xfrm>
            <a:off x="529055" y="2987645"/>
            <a:ext cx="321236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5BAA"/>
                </a:solidFill>
              </a:rPr>
              <a:t>A </a:t>
            </a:r>
            <a:r>
              <a:rPr lang="pt-BR" sz="1400" b="1" dirty="0">
                <a:solidFill>
                  <a:srgbClr val="005BAA"/>
                </a:solidFill>
              </a:rPr>
              <a:t>crescente fila por leitos hospitalares </a:t>
            </a:r>
            <a:r>
              <a:rPr lang="pt-BR" sz="1400" dirty="0">
                <a:solidFill>
                  <a:srgbClr val="005BAA"/>
                </a:solidFill>
              </a:rPr>
              <a:t>evidencia o descompasso entre a demanda da população e a capacidade instalada da rede de saúde. Pacientes permanecem por </a:t>
            </a:r>
            <a:r>
              <a:rPr lang="pt-BR" sz="1400" b="1" dirty="0">
                <a:solidFill>
                  <a:srgbClr val="005BAA"/>
                </a:solidFill>
              </a:rPr>
              <a:t>longos períodos </a:t>
            </a:r>
            <a:r>
              <a:rPr lang="pt-BR" sz="1400" dirty="0">
                <a:solidFill>
                  <a:srgbClr val="005BAA"/>
                </a:solidFill>
              </a:rPr>
              <a:t>em </a:t>
            </a:r>
            <a:r>
              <a:rPr lang="pt-BR" sz="1400" dirty="0" err="1">
                <a:solidFill>
                  <a:srgbClr val="005BAA"/>
                </a:solidFill>
              </a:rPr>
              <a:t>UPAs</a:t>
            </a:r>
            <a:r>
              <a:rPr lang="pt-BR" sz="1400" dirty="0">
                <a:solidFill>
                  <a:srgbClr val="005BAA"/>
                </a:solidFill>
              </a:rPr>
              <a:t> e corredores de hospitais </a:t>
            </a:r>
            <a:r>
              <a:rPr lang="pt-BR" sz="1400" b="1" dirty="0">
                <a:solidFill>
                  <a:srgbClr val="005BAA"/>
                </a:solidFill>
              </a:rPr>
              <a:t>aguardando transferência para internação</a:t>
            </a:r>
            <a:r>
              <a:rPr lang="pt-BR" sz="1400" dirty="0">
                <a:solidFill>
                  <a:srgbClr val="005BAA"/>
                </a:solidFill>
              </a:rPr>
              <a:t>, o que aumenta a pressão sobre os serviços e pode comprometer a qualidade do atendimento. Esse cenário reforça a importância do planejamento e da distribuição eficiente dos recursos de saúde para </a:t>
            </a:r>
            <a:r>
              <a:rPr lang="pt-BR" sz="1400" b="1" dirty="0">
                <a:solidFill>
                  <a:srgbClr val="005BAA"/>
                </a:solidFill>
              </a:rPr>
              <a:t>reduzir desigualdades e melhorar os desfechos assistenciais</a:t>
            </a:r>
            <a:r>
              <a:rPr lang="pt-BR" sz="1400" dirty="0">
                <a:solidFill>
                  <a:srgbClr val="005BAA"/>
                </a:solidFill>
              </a:rPr>
              <a:t>.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EFA36E20-7400-2B2B-E124-3CEF0BC52610}"/>
              </a:ext>
            </a:extLst>
          </p:cNvPr>
          <p:cNvSpPr txBox="1"/>
          <p:nvPr/>
        </p:nvSpPr>
        <p:spPr>
          <a:xfrm>
            <a:off x="546390" y="6242006"/>
            <a:ext cx="81634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i="1" dirty="0">
                <a:solidFill>
                  <a:srgbClr val="005BAA"/>
                </a:solidFill>
                <a:hlinkClick r:id="rId3"/>
              </a:rPr>
              <a:t>https://g1.globo.com/sp/sao-paulo/noticia/2025/07/17/14-mil-pacientes-em-upas-e-corredores-de-hospital-aguardam-por-leito-na-cidade-de-sp.ghtml</a:t>
            </a:r>
            <a:endParaRPr lang="pt-BR" sz="1000" i="1" dirty="0">
              <a:solidFill>
                <a:srgbClr val="005BAA"/>
              </a:solidFill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93EA6BCC-FDBB-E23C-3E7D-34767D0B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716" y="2910284"/>
            <a:ext cx="4698000" cy="3132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  <a:softEdge rad="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76883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A083-8D0B-B080-19EF-E6F5F160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032C069-4461-3114-F626-1E3B5F80A175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04116A9-7BB9-0636-356B-BE8C935443F2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C54B90D-7432-A031-D8CC-60154D02D766}"/>
                </a:ext>
              </a:extLst>
            </p:cNvPr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AC1C751-83C2-F6F9-4937-6D17D1356D9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7FF559D-CF59-0A87-90BF-C9B5FEF9F35C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30AFF-E246-856D-67A1-836C213DB1D2}"/>
              </a:ext>
            </a:extLst>
          </p:cNvPr>
          <p:cNvSpPr txBox="1"/>
          <p:nvPr/>
        </p:nvSpPr>
        <p:spPr>
          <a:xfrm>
            <a:off x="276131" y="104150"/>
            <a:ext cx="54928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Evolução e Saúde Juntas</a:t>
            </a:r>
            <a:endParaRPr sz="2800" b="1" i="1" dirty="0">
              <a:solidFill>
                <a:schemeClr val="bg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BE10066D-6398-B6CC-D830-DF31D49F58B0}"/>
              </a:ext>
            </a:extLst>
          </p:cNvPr>
          <p:cNvSpPr txBox="1"/>
          <p:nvPr/>
        </p:nvSpPr>
        <p:spPr>
          <a:xfrm>
            <a:off x="523398" y="1063681"/>
            <a:ext cx="4935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005BAA"/>
                </a:solidFill>
              </a:rPr>
              <a:t>Público-alvo:</a:t>
            </a:r>
          </a:p>
        </p:txBody>
      </p:sp>
      <p:sp>
        <p:nvSpPr>
          <p:cNvPr id="13" name="Seta: para a Direita Listrada 12">
            <a:extLst>
              <a:ext uri="{FF2B5EF4-FFF2-40B4-BE49-F238E27FC236}">
                <a16:creationId xmlns:a16="http://schemas.microsoft.com/office/drawing/2014/main" id="{DB4C4CFF-4149-C6D7-3B0D-CDD7745CFFFD}"/>
              </a:ext>
            </a:extLst>
          </p:cNvPr>
          <p:cNvSpPr>
            <a:spLocks noChangeAspect="1"/>
          </p:cNvSpPr>
          <p:nvPr/>
        </p:nvSpPr>
        <p:spPr>
          <a:xfrm>
            <a:off x="61055" y="1161880"/>
            <a:ext cx="468000" cy="350375"/>
          </a:xfrm>
          <a:prstGeom prst="stripedRightArrow">
            <a:avLst/>
          </a:prstGeom>
          <a:solidFill>
            <a:srgbClr val="21AC83"/>
          </a:solidFill>
          <a:ln>
            <a:solidFill>
              <a:srgbClr val="117FBB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2D2C47E5-CD24-4E47-F459-0B206882D187}"/>
              </a:ext>
            </a:extLst>
          </p:cNvPr>
          <p:cNvSpPr txBox="1"/>
          <p:nvPr/>
        </p:nvSpPr>
        <p:spPr>
          <a:xfrm>
            <a:off x="523398" y="1682880"/>
            <a:ext cx="81634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5BAA"/>
                </a:solidFill>
              </a:rPr>
              <a:t>O projeto </a:t>
            </a:r>
            <a:r>
              <a:rPr lang="pt-BR" sz="1400" b="1" i="1" dirty="0" err="1">
                <a:solidFill>
                  <a:srgbClr val="21AC83"/>
                </a:solidFill>
              </a:rPr>
              <a:t>EvoluSUS</a:t>
            </a:r>
            <a:r>
              <a:rPr lang="pt-BR" sz="1400" dirty="0">
                <a:solidFill>
                  <a:srgbClr val="005BAA"/>
                </a:solidFill>
              </a:rPr>
              <a:t> tem como público-alvo principal </a:t>
            </a:r>
            <a:r>
              <a:rPr lang="pt-BR" sz="1400" b="1" u="sng" dirty="0">
                <a:solidFill>
                  <a:srgbClr val="005BAA"/>
                </a:solidFill>
              </a:rPr>
              <a:t>gestores público</a:t>
            </a:r>
            <a:r>
              <a:rPr lang="pt-BR" sz="1400" b="1" dirty="0">
                <a:solidFill>
                  <a:srgbClr val="005BAA"/>
                </a:solidFill>
              </a:rPr>
              <a:t>s, </a:t>
            </a:r>
            <a:r>
              <a:rPr lang="pt-BR" sz="1400" b="1" u="sng" dirty="0">
                <a:solidFill>
                  <a:srgbClr val="005BAA"/>
                </a:solidFill>
              </a:rPr>
              <a:t>analistas de políticas públicas</a:t>
            </a:r>
            <a:r>
              <a:rPr lang="pt-BR" sz="1400" b="1" dirty="0">
                <a:solidFill>
                  <a:srgbClr val="005BAA"/>
                </a:solidFill>
              </a:rPr>
              <a:t> e </a:t>
            </a:r>
            <a:r>
              <a:rPr lang="pt-BR" sz="1400" b="1" u="sng" dirty="0">
                <a:solidFill>
                  <a:srgbClr val="005BAA"/>
                </a:solidFill>
              </a:rPr>
              <a:t>profissionais da área da saúde</a:t>
            </a:r>
            <a:r>
              <a:rPr lang="pt-BR" sz="1400" dirty="0">
                <a:solidFill>
                  <a:srgbClr val="005BAA"/>
                </a:solidFill>
              </a:rPr>
              <a:t> envolvidos no </a:t>
            </a:r>
            <a:r>
              <a:rPr lang="pt-BR" sz="1400" b="1" dirty="0">
                <a:solidFill>
                  <a:srgbClr val="005BAA"/>
                </a:solidFill>
              </a:rPr>
              <a:t>planejamento, monitoramento e avaliação dos serviços de saúde no âmbito municipal, estadual e federal</a:t>
            </a:r>
            <a:r>
              <a:rPr lang="pt-BR" sz="1400" dirty="0">
                <a:solidFill>
                  <a:srgbClr val="005BAA"/>
                </a:solidFill>
              </a:rPr>
              <a:t>.</a:t>
            </a:r>
          </a:p>
          <a:p>
            <a:r>
              <a:rPr lang="pt-BR" sz="1400" dirty="0">
                <a:solidFill>
                  <a:srgbClr val="005BAA"/>
                </a:solidFill>
              </a:rPr>
              <a:t>Também se destina a </a:t>
            </a:r>
            <a:r>
              <a:rPr lang="pt-BR" sz="1400" b="1" u="sng" dirty="0">
                <a:solidFill>
                  <a:srgbClr val="005BAA"/>
                </a:solidFill>
              </a:rPr>
              <a:t>pesquisadores</a:t>
            </a:r>
            <a:r>
              <a:rPr lang="pt-BR" sz="1400" dirty="0">
                <a:solidFill>
                  <a:srgbClr val="005BAA"/>
                </a:solidFill>
              </a:rPr>
              <a:t>, </a:t>
            </a:r>
            <a:r>
              <a:rPr lang="pt-BR" sz="1400" b="1" u="sng" dirty="0">
                <a:solidFill>
                  <a:srgbClr val="005BAA"/>
                </a:solidFill>
              </a:rPr>
              <a:t>cientistas de dados</a:t>
            </a:r>
            <a:r>
              <a:rPr lang="pt-BR" sz="1400" dirty="0">
                <a:solidFill>
                  <a:srgbClr val="005BAA"/>
                </a:solidFill>
              </a:rPr>
              <a:t>, </a:t>
            </a:r>
            <a:r>
              <a:rPr lang="pt-BR" sz="1400" b="1" u="sng" dirty="0">
                <a:solidFill>
                  <a:srgbClr val="005BAA"/>
                </a:solidFill>
              </a:rPr>
              <a:t>epidemiologistas</a:t>
            </a:r>
            <a:r>
              <a:rPr lang="pt-BR" sz="1400" dirty="0">
                <a:solidFill>
                  <a:srgbClr val="005BAA"/>
                </a:solidFill>
              </a:rPr>
              <a:t> e </a:t>
            </a:r>
            <a:r>
              <a:rPr lang="pt-BR" sz="1400" b="1" u="sng" dirty="0">
                <a:solidFill>
                  <a:srgbClr val="005BAA"/>
                </a:solidFill>
              </a:rPr>
              <a:t>instituições acadêmicas</a:t>
            </a:r>
            <a:r>
              <a:rPr lang="pt-BR" sz="1400" dirty="0">
                <a:solidFill>
                  <a:srgbClr val="005BAA"/>
                </a:solidFill>
              </a:rPr>
              <a:t> interessados em compreender a relação entre infraestrutura hospitalar, demanda assistencial e desfechos em saúde, utilizando </a:t>
            </a:r>
            <a:r>
              <a:rPr lang="pt-BR" sz="1400" b="1" dirty="0">
                <a:solidFill>
                  <a:srgbClr val="005BAA"/>
                </a:solidFill>
              </a:rPr>
              <a:t>dados públicos do SUS para geração de conhecimento e apoio à tomada de decisão</a:t>
            </a:r>
            <a:r>
              <a:rPr lang="pt-BR" sz="1400" dirty="0">
                <a:solidFill>
                  <a:srgbClr val="005BAA"/>
                </a:solidFill>
              </a:rPr>
              <a:t>.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6E257BDC-DE00-E2E1-C2B7-5AD5A50EFCFB}"/>
              </a:ext>
            </a:extLst>
          </p:cNvPr>
          <p:cNvSpPr txBox="1"/>
          <p:nvPr/>
        </p:nvSpPr>
        <p:spPr>
          <a:xfrm>
            <a:off x="529055" y="3191214"/>
            <a:ext cx="33367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5BAA"/>
                </a:solidFill>
              </a:rPr>
              <a:t>Por meio da </a:t>
            </a:r>
            <a:r>
              <a:rPr lang="pt-BR" sz="1400" b="1" dirty="0">
                <a:solidFill>
                  <a:srgbClr val="005BAA"/>
                </a:solidFill>
              </a:rPr>
              <a:t>integração de dados </a:t>
            </a:r>
            <a:r>
              <a:rPr lang="pt-BR" sz="1400" dirty="0">
                <a:solidFill>
                  <a:srgbClr val="005BAA"/>
                </a:solidFill>
              </a:rPr>
              <a:t>sobre capacidade hospitalar, demanda assistencial e mortalidade, o projeto possibilita </a:t>
            </a:r>
            <a:r>
              <a:rPr lang="pt-BR" sz="1400" b="1" dirty="0">
                <a:solidFill>
                  <a:srgbClr val="005BAA"/>
                </a:solidFill>
              </a:rPr>
              <a:t>identificar desequilíbrios regionais, antecipar cenários de pressão </a:t>
            </a:r>
            <a:r>
              <a:rPr lang="pt-BR" sz="1400" dirty="0">
                <a:solidFill>
                  <a:srgbClr val="005BAA"/>
                </a:solidFill>
              </a:rPr>
              <a:t>sobre os serviços de saúde e </a:t>
            </a:r>
            <a:r>
              <a:rPr lang="pt-BR" sz="1400" b="1" dirty="0">
                <a:solidFill>
                  <a:srgbClr val="005BAA"/>
                </a:solidFill>
              </a:rPr>
              <a:t>orientar ações </a:t>
            </a:r>
            <a:r>
              <a:rPr lang="pt-BR" sz="1400" dirty="0">
                <a:solidFill>
                  <a:srgbClr val="005BAA"/>
                </a:solidFill>
              </a:rPr>
              <a:t>mais eficientes na alocação de recursos. </a:t>
            </a:r>
          </a:p>
          <a:p>
            <a:endParaRPr lang="pt-BR" sz="1400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Dessa forma, contribui para o fortalecimento do planejamento em saúde pública, promovendo uma </a:t>
            </a:r>
            <a:r>
              <a:rPr lang="pt-BR" sz="1400" b="1" dirty="0">
                <a:solidFill>
                  <a:srgbClr val="005BAA"/>
                </a:solidFill>
              </a:rPr>
              <a:t>gestão mais transparente</a:t>
            </a:r>
            <a:r>
              <a:rPr lang="pt-BR" sz="1400" dirty="0">
                <a:solidFill>
                  <a:srgbClr val="005BAA"/>
                </a:solidFill>
              </a:rPr>
              <a:t>, baseada em evidências e alinhada às necessidades reais da população brasileira.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EE23780-1A46-C8D7-5338-0B7773ADE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130" y="3191214"/>
            <a:ext cx="4662815" cy="31085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7748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1B5-30BD-BA2F-680F-58878891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8C9F21F-FBCF-3ABA-2D40-C2847FC090B1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83CE865-6EFF-8FDA-BB7A-F3623D165E3A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FFAD8B9-670E-2106-DA60-E1F3FF26E843}"/>
                </a:ext>
              </a:extLst>
            </p:cNvPr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C70F3C2-4BE3-36DB-BA9A-118E3ED50506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3890291-0387-8920-6781-EBC274933CA2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8DDB1-2E67-38EB-0049-8FAA847C8287}"/>
              </a:ext>
            </a:extLst>
          </p:cNvPr>
          <p:cNvSpPr txBox="1"/>
          <p:nvPr/>
        </p:nvSpPr>
        <p:spPr>
          <a:xfrm>
            <a:off x="276131" y="104150"/>
            <a:ext cx="54928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Evolução e Saúde Juntas</a:t>
            </a:r>
            <a:endParaRPr sz="2800" b="1" i="1" dirty="0">
              <a:solidFill>
                <a:schemeClr val="bg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829A26B-A553-21B3-7519-9DC56638A220}"/>
              </a:ext>
            </a:extLst>
          </p:cNvPr>
          <p:cNvSpPr txBox="1"/>
          <p:nvPr/>
        </p:nvSpPr>
        <p:spPr>
          <a:xfrm>
            <a:off x="523398" y="1063681"/>
            <a:ext cx="4935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005BAA"/>
                </a:solidFill>
              </a:rPr>
              <a:t>Proposta da Solução:</a:t>
            </a:r>
          </a:p>
        </p:txBody>
      </p:sp>
      <p:sp>
        <p:nvSpPr>
          <p:cNvPr id="13" name="Seta: para a Direita Listrada 12">
            <a:extLst>
              <a:ext uri="{FF2B5EF4-FFF2-40B4-BE49-F238E27FC236}">
                <a16:creationId xmlns:a16="http://schemas.microsoft.com/office/drawing/2014/main" id="{F1073A21-7A61-83FB-9050-0FB4FC82461D}"/>
              </a:ext>
            </a:extLst>
          </p:cNvPr>
          <p:cNvSpPr>
            <a:spLocks noChangeAspect="1"/>
          </p:cNvSpPr>
          <p:nvPr/>
        </p:nvSpPr>
        <p:spPr>
          <a:xfrm>
            <a:off x="61055" y="1161880"/>
            <a:ext cx="468000" cy="350375"/>
          </a:xfrm>
          <a:prstGeom prst="stripedRightArrow">
            <a:avLst/>
          </a:prstGeom>
          <a:solidFill>
            <a:srgbClr val="21AC83"/>
          </a:solidFill>
          <a:ln>
            <a:solidFill>
              <a:srgbClr val="117FBB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A7FD420A-8F65-C795-143C-1B1A0DD79DAE}"/>
              </a:ext>
            </a:extLst>
          </p:cNvPr>
          <p:cNvSpPr txBox="1"/>
          <p:nvPr/>
        </p:nvSpPr>
        <p:spPr>
          <a:xfrm>
            <a:off x="523398" y="1682880"/>
            <a:ext cx="816340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5BAA"/>
                </a:solidFill>
              </a:rPr>
              <a:t>O projeto </a:t>
            </a:r>
            <a:r>
              <a:rPr lang="pt-BR" sz="1400" b="1" i="1" dirty="0" err="1">
                <a:solidFill>
                  <a:srgbClr val="21AC83"/>
                </a:solidFill>
              </a:rPr>
              <a:t>EvoluSUS</a:t>
            </a:r>
            <a:r>
              <a:rPr lang="pt-BR" sz="1400" dirty="0">
                <a:solidFill>
                  <a:srgbClr val="005BAA"/>
                </a:solidFill>
              </a:rPr>
              <a:t> propõe </a:t>
            </a:r>
            <a:r>
              <a:rPr lang="pt-BR" sz="1400" b="1" dirty="0">
                <a:solidFill>
                  <a:srgbClr val="005BAA"/>
                </a:solidFill>
              </a:rPr>
              <a:t>integrar dados</a:t>
            </a:r>
            <a:r>
              <a:rPr lang="pt-BR" sz="1400" dirty="0">
                <a:solidFill>
                  <a:srgbClr val="005BAA"/>
                </a:solidFill>
              </a:rPr>
              <a:t> do </a:t>
            </a:r>
            <a:r>
              <a:rPr lang="pt-BR" sz="1400" b="1" u="sng" dirty="0">
                <a:solidFill>
                  <a:srgbClr val="005BAA"/>
                </a:solidFill>
              </a:rPr>
              <a:t>Cadastro Nacional de Estabelecimentos de Saúde (CNES)</a:t>
            </a:r>
            <a:r>
              <a:rPr lang="pt-BR" sz="1400" dirty="0">
                <a:solidFill>
                  <a:srgbClr val="005BAA"/>
                </a:solidFill>
              </a:rPr>
              <a:t>, do </a:t>
            </a:r>
            <a:r>
              <a:rPr lang="pt-BR" sz="1400" b="1" u="sng" dirty="0">
                <a:solidFill>
                  <a:srgbClr val="005BAA"/>
                </a:solidFill>
              </a:rPr>
              <a:t>Sistema de Informações Hospitalares do SUS (SIH-SUS)</a:t>
            </a:r>
            <a:r>
              <a:rPr lang="pt-BR" sz="1400" b="1" dirty="0">
                <a:solidFill>
                  <a:srgbClr val="005BAA"/>
                </a:solidFill>
              </a:rPr>
              <a:t> </a:t>
            </a:r>
            <a:r>
              <a:rPr lang="pt-BR" sz="1400" dirty="0">
                <a:solidFill>
                  <a:srgbClr val="005BAA"/>
                </a:solidFill>
              </a:rPr>
              <a:t>e do </a:t>
            </a:r>
            <a:r>
              <a:rPr lang="pt-BR" sz="1400" b="1" u="sng" dirty="0">
                <a:solidFill>
                  <a:srgbClr val="005BAA"/>
                </a:solidFill>
              </a:rPr>
              <a:t>Sistema de Informações sobre Mortalidade (SIM)</a:t>
            </a:r>
            <a:r>
              <a:rPr lang="pt-BR" sz="1400" dirty="0">
                <a:solidFill>
                  <a:srgbClr val="005BAA"/>
                </a:solidFill>
              </a:rPr>
              <a:t>, permitindo analisar a relação entre </a:t>
            </a:r>
            <a:r>
              <a:rPr lang="pt-BR" sz="1400" b="1" dirty="0">
                <a:solidFill>
                  <a:srgbClr val="005BAA"/>
                </a:solidFill>
              </a:rPr>
              <a:t>capacidade hospitalar, utilização dos serviços e mortalidade</a:t>
            </a:r>
            <a:r>
              <a:rPr lang="pt-BR" sz="1400" dirty="0">
                <a:solidFill>
                  <a:srgbClr val="005BAA"/>
                </a:solidFill>
              </a:rPr>
              <a:t>. </a:t>
            </a:r>
          </a:p>
          <a:p>
            <a:endParaRPr lang="pt-BR" sz="1400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Nesse sentido, busca-se avaliar a capacidade de </a:t>
            </a:r>
            <a:r>
              <a:rPr lang="pt-BR" sz="1400" b="1" dirty="0">
                <a:solidFill>
                  <a:srgbClr val="005BAA"/>
                </a:solidFill>
              </a:rPr>
              <a:t>adaptação do SUS </a:t>
            </a:r>
            <a:r>
              <a:rPr lang="pt-BR" sz="1400" dirty="0">
                <a:solidFill>
                  <a:srgbClr val="005BAA"/>
                </a:solidFill>
              </a:rPr>
              <a:t>às mudanças ocorridas no território brasileiro ao </a:t>
            </a:r>
            <a:r>
              <a:rPr lang="pt-BR" sz="1400" b="1" dirty="0">
                <a:solidFill>
                  <a:srgbClr val="005BAA"/>
                </a:solidFill>
              </a:rPr>
              <a:t>longo de mais de três décadas</a:t>
            </a:r>
            <a:r>
              <a:rPr lang="pt-BR" sz="1400" dirty="0">
                <a:solidFill>
                  <a:srgbClr val="005BAA"/>
                </a:solidFill>
              </a:rPr>
              <a:t>, identificando possíveis desigualdades regionais e oportunidades para aprimoramento do planejamento em saúde pública.</a:t>
            </a:r>
          </a:p>
          <a:p>
            <a:endParaRPr lang="pt-BR" sz="1400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O projeto prevê a criação do </a:t>
            </a:r>
            <a:r>
              <a:rPr lang="pt-BR" sz="1400" b="1" i="1" u="sng" dirty="0">
                <a:solidFill>
                  <a:srgbClr val="21AC83"/>
                </a:solidFill>
              </a:rPr>
              <a:t>Índice de Pressão Hospitalar (IPH)</a:t>
            </a:r>
            <a:r>
              <a:rPr lang="pt-BR" sz="1400" dirty="0">
                <a:solidFill>
                  <a:srgbClr val="117FBB"/>
                </a:solidFill>
              </a:rPr>
              <a:t>,</a:t>
            </a:r>
            <a:r>
              <a:rPr lang="pt-BR" sz="1400" dirty="0">
                <a:solidFill>
                  <a:srgbClr val="21AC83"/>
                </a:solidFill>
              </a:rPr>
              <a:t> </a:t>
            </a:r>
            <a:r>
              <a:rPr lang="pt-BR" sz="1400" dirty="0">
                <a:solidFill>
                  <a:srgbClr val="005BAA"/>
                </a:solidFill>
              </a:rPr>
              <a:t>um indicador composto capaz de mensurar o grau de sobrecarga dos serviços de saúde em cada município ou região, considerando variáveis como </a:t>
            </a:r>
            <a:r>
              <a:rPr lang="pt-BR" sz="1400" b="1" dirty="0">
                <a:solidFill>
                  <a:srgbClr val="005BAA"/>
                </a:solidFill>
              </a:rPr>
              <a:t>disponibilidade de leitos</a:t>
            </a:r>
            <a:r>
              <a:rPr lang="pt-BR" sz="1400" dirty="0">
                <a:solidFill>
                  <a:srgbClr val="005BAA"/>
                </a:solidFill>
              </a:rPr>
              <a:t>, </a:t>
            </a:r>
            <a:r>
              <a:rPr lang="pt-BR" sz="1400" b="1" dirty="0">
                <a:solidFill>
                  <a:srgbClr val="005BAA"/>
                </a:solidFill>
              </a:rPr>
              <a:t>número de profissionais de saúde</a:t>
            </a:r>
            <a:r>
              <a:rPr lang="pt-BR" sz="1400" dirty="0">
                <a:solidFill>
                  <a:srgbClr val="005BAA"/>
                </a:solidFill>
              </a:rPr>
              <a:t>, </a:t>
            </a:r>
            <a:r>
              <a:rPr lang="pt-BR" sz="1400" b="1" dirty="0">
                <a:solidFill>
                  <a:srgbClr val="005BAA"/>
                </a:solidFill>
              </a:rPr>
              <a:t>volume de internações</a:t>
            </a:r>
            <a:r>
              <a:rPr lang="pt-BR" sz="1400" dirty="0">
                <a:solidFill>
                  <a:srgbClr val="005BAA"/>
                </a:solidFill>
              </a:rPr>
              <a:t>, </a:t>
            </a:r>
            <a:r>
              <a:rPr lang="pt-BR" sz="1400" b="1" dirty="0">
                <a:solidFill>
                  <a:srgbClr val="005BAA"/>
                </a:solidFill>
              </a:rPr>
              <a:t>permanência hospitalar e registros de mortalidade</a:t>
            </a:r>
            <a:r>
              <a:rPr lang="pt-BR" sz="1400" dirty="0">
                <a:solidFill>
                  <a:srgbClr val="005BAA"/>
                </a:solidFill>
              </a:rPr>
              <a:t>. </a:t>
            </a:r>
          </a:p>
          <a:p>
            <a:endParaRPr lang="pt-BR" sz="1400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Os resultados serão disponibilizados por meio de </a:t>
            </a:r>
            <a:r>
              <a:rPr lang="pt-BR" sz="1400" b="1" u="sng" dirty="0">
                <a:solidFill>
                  <a:srgbClr val="005BAA"/>
                </a:solidFill>
              </a:rPr>
              <a:t>relatórios e painéis interativos</a:t>
            </a:r>
            <a:r>
              <a:rPr lang="pt-BR" sz="1400" dirty="0">
                <a:solidFill>
                  <a:srgbClr val="005BAA"/>
                </a:solidFill>
              </a:rPr>
              <a:t>, permitindo a visualização dinâmica dos indicadores, a comparação entre municípios e regiões e o acompanhamento da evolução da pressão hospitalar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170736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65AB5-42B1-9B16-554F-9FEAB171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199DE7A-B79C-15C4-742A-484FDE3AAAC0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D2EE829-16DC-ACB1-06C8-CFEA2ECCE1BB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FF48894-813B-8FA4-F21B-7586AE72A082}"/>
                </a:ext>
              </a:extLst>
            </p:cNvPr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40BFD112-E769-F86F-8D84-9961BB9615EA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27AB0BB-7FFF-0B93-2E42-2F862236E675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216A9-BFC8-4DFE-1ECC-F01986F4A7FB}"/>
              </a:ext>
            </a:extLst>
          </p:cNvPr>
          <p:cNvSpPr txBox="1"/>
          <p:nvPr/>
        </p:nvSpPr>
        <p:spPr>
          <a:xfrm>
            <a:off x="276131" y="104150"/>
            <a:ext cx="54928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Evolução e Saúde Juntas</a:t>
            </a:r>
            <a:endParaRPr sz="2800" b="1" i="1" dirty="0">
              <a:solidFill>
                <a:schemeClr val="bg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AC96068-202B-0BE0-FBB3-6B15C44CA22F}"/>
              </a:ext>
            </a:extLst>
          </p:cNvPr>
          <p:cNvSpPr txBox="1"/>
          <p:nvPr/>
        </p:nvSpPr>
        <p:spPr>
          <a:xfrm>
            <a:off x="523398" y="1063681"/>
            <a:ext cx="4935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005BAA"/>
                </a:solidFill>
              </a:rPr>
              <a:t>Benefícios esperados:</a:t>
            </a:r>
          </a:p>
        </p:txBody>
      </p:sp>
      <p:sp>
        <p:nvSpPr>
          <p:cNvPr id="13" name="Seta: para a Direita Listrada 12">
            <a:extLst>
              <a:ext uri="{FF2B5EF4-FFF2-40B4-BE49-F238E27FC236}">
                <a16:creationId xmlns:a16="http://schemas.microsoft.com/office/drawing/2014/main" id="{E072041C-4B69-1F7A-ADE5-650F4D1E5F9A}"/>
              </a:ext>
            </a:extLst>
          </p:cNvPr>
          <p:cNvSpPr>
            <a:spLocks noChangeAspect="1"/>
          </p:cNvSpPr>
          <p:nvPr/>
        </p:nvSpPr>
        <p:spPr>
          <a:xfrm>
            <a:off x="61055" y="1161880"/>
            <a:ext cx="468000" cy="350375"/>
          </a:xfrm>
          <a:prstGeom prst="stripedRightArrow">
            <a:avLst/>
          </a:prstGeom>
          <a:solidFill>
            <a:srgbClr val="21AC83"/>
          </a:solidFill>
          <a:ln>
            <a:solidFill>
              <a:srgbClr val="117FBB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F5D7EE5A-559B-B123-76C0-D89275859CE5}"/>
              </a:ext>
            </a:extLst>
          </p:cNvPr>
          <p:cNvSpPr txBox="1"/>
          <p:nvPr/>
        </p:nvSpPr>
        <p:spPr>
          <a:xfrm>
            <a:off x="523398" y="1782465"/>
            <a:ext cx="816340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5BAA"/>
                </a:solidFill>
              </a:rPr>
              <a:t>Ao integrar diferentes bases de dados públicas, a iniciativa pretende </a:t>
            </a:r>
            <a:r>
              <a:rPr lang="pt-BR" sz="1400" b="1" dirty="0">
                <a:solidFill>
                  <a:srgbClr val="005BAA"/>
                </a:solidFill>
              </a:rPr>
              <a:t>oferecer uma visão ampla da relação entre capacidade hospitalar, demanda por serviços e desfechos em saúde</a:t>
            </a:r>
            <a:r>
              <a:rPr lang="pt-BR" sz="1400" dirty="0">
                <a:solidFill>
                  <a:srgbClr val="005BAA"/>
                </a:solidFill>
              </a:rPr>
              <a:t>, apoiando o </a:t>
            </a:r>
            <a:r>
              <a:rPr lang="pt-BR" sz="1400" b="1" dirty="0">
                <a:solidFill>
                  <a:srgbClr val="005BAA"/>
                </a:solidFill>
              </a:rPr>
              <a:t>planejamento e a gestão do sistema de forma mais eficiente</a:t>
            </a:r>
            <a:r>
              <a:rPr lang="pt-BR" sz="1400" dirty="0">
                <a:solidFill>
                  <a:srgbClr val="005BAA"/>
                </a:solidFill>
              </a:rPr>
              <a:t>. Entre os principais benefícios esperados, destacam-se:</a:t>
            </a:r>
          </a:p>
          <a:p>
            <a:endParaRPr lang="pt-BR" sz="1400" u="sng" dirty="0">
              <a:solidFill>
                <a:srgbClr val="005B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i="1" u="sng" dirty="0">
                <a:solidFill>
                  <a:srgbClr val="005BAA"/>
                </a:solidFill>
              </a:rPr>
              <a:t>Identificação de desigualdades regionais</a:t>
            </a:r>
            <a:r>
              <a:rPr lang="pt-BR" sz="1400" i="1" dirty="0">
                <a:solidFill>
                  <a:srgbClr val="005BAA"/>
                </a:solidFill>
              </a:rPr>
              <a:t>, evidenciando municípios e regiões onde a pressão assistencial é incompatível com a capacidade instalada disponível;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i="1" dirty="0">
              <a:solidFill>
                <a:srgbClr val="005B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i="1" u="sng" dirty="0">
                <a:solidFill>
                  <a:srgbClr val="005BAA"/>
                </a:solidFill>
              </a:rPr>
              <a:t>Apoio à tomada de decisão baseada em dados</a:t>
            </a:r>
            <a:r>
              <a:rPr lang="pt-BR" sz="1400" i="1" dirty="0">
                <a:solidFill>
                  <a:srgbClr val="005BAA"/>
                </a:solidFill>
              </a:rPr>
              <a:t>, fornecendo subsídios para gestores públicos direcionarem investimentos de forma mais estratégica;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i="1" dirty="0">
              <a:solidFill>
                <a:srgbClr val="005B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i="1" u="sng" dirty="0">
                <a:solidFill>
                  <a:srgbClr val="005BAA"/>
                </a:solidFill>
              </a:rPr>
              <a:t>Otimização da alocação de recursos</a:t>
            </a:r>
            <a:r>
              <a:rPr lang="pt-BR" sz="1400" i="1" dirty="0">
                <a:solidFill>
                  <a:srgbClr val="005BAA"/>
                </a:solidFill>
              </a:rPr>
              <a:t>, contribuindo para a redução de gargalos operacionais e para o uso mais eficiente dos recursos públicos;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i="1" dirty="0">
              <a:solidFill>
                <a:srgbClr val="005B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i="1" u="sng" dirty="0">
                <a:solidFill>
                  <a:srgbClr val="005BAA"/>
                </a:solidFill>
              </a:rPr>
              <a:t>Fortalecimento do planejamento da rede de saúde</a:t>
            </a:r>
            <a:r>
              <a:rPr lang="pt-BR" sz="1400" i="1" dirty="0">
                <a:solidFill>
                  <a:srgbClr val="005BAA"/>
                </a:solidFill>
              </a:rPr>
              <a:t>, permitindo identificar áreas prioritárias para expansão de leitos, profissionais e serviços especializados.</a:t>
            </a:r>
          </a:p>
        </p:txBody>
      </p:sp>
    </p:spTree>
    <p:extLst>
      <p:ext uri="{BB962C8B-B14F-4D97-AF65-F5344CB8AC3E}">
        <p14:creationId xmlns:p14="http://schemas.microsoft.com/office/powerpoint/2010/main" val="69122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78BE6-1999-73EC-3508-A373C521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1BBF46-22C3-CA09-7EF0-719DCE3B23DA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A9A9B19E-AEAC-B866-A77F-A2FADEF9CF48}"/>
              </a:ext>
            </a:extLst>
          </p:cNvPr>
          <p:cNvSpPr txBox="1"/>
          <p:nvPr/>
        </p:nvSpPr>
        <p:spPr>
          <a:xfrm>
            <a:off x="276131" y="104150"/>
            <a:ext cx="53290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Arquitetura da Solução</a:t>
            </a:r>
            <a:endParaRPr sz="2800" b="1" i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363266-2110-1E56-4A48-475DA96F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859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1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C30A-43E7-9AA7-DA0C-B3F69FFC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F78F91-44E9-6BB6-4188-42AED4C85FF9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74FAA64F-A1E5-51DE-BD9A-4FB7198AE9A5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16" name="Rectangle 1">
              <a:extLst>
                <a:ext uri="{FF2B5EF4-FFF2-40B4-BE49-F238E27FC236}">
                  <a16:creationId xmlns:a16="http://schemas.microsoft.com/office/drawing/2014/main" id="{218F32DE-2A86-9C91-D1E3-2A6E80405921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2">
              <a:extLst>
                <a:ext uri="{FF2B5EF4-FFF2-40B4-BE49-F238E27FC236}">
                  <a16:creationId xmlns:a16="http://schemas.microsoft.com/office/drawing/2014/main" id="{38876295-B092-950F-0180-E575E6B210AC}"/>
                </a:ext>
              </a:extLst>
            </p:cNvPr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D79DC024-57C5-BBD8-C4C4-68FB2C21E9FE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19" name="TextBox 4">
            <a:extLst>
              <a:ext uri="{FF2B5EF4-FFF2-40B4-BE49-F238E27FC236}">
                <a16:creationId xmlns:a16="http://schemas.microsoft.com/office/drawing/2014/main" id="{8F6EBE65-DC5A-E5B6-3444-E501ABA24DFA}"/>
              </a:ext>
            </a:extLst>
          </p:cNvPr>
          <p:cNvSpPr txBox="1"/>
          <p:nvPr/>
        </p:nvSpPr>
        <p:spPr>
          <a:xfrm>
            <a:off x="276131" y="104150"/>
            <a:ext cx="53290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Arquitetura da Solução</a:t>
            </a:r>
            <a:endParaRPr sz="2800" b="1" i="1" dirty="0">
              <a:solidFill>
                <a:schemeClr val="bg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9AA906A-EA33-DE80-C42F-D4D7C5B6F0E6}"/>
              </a:ext>
            </a:extLst>
          </p:cNvPr>
          <p:cNvSpPr txBox="1"/>
          <p:nvPr/>
        </p:nvSpPr>
        <p:spPr>
          <a:xfrm>
            <a:off x="523398" y="783026"/>
            <a:ext cx="4935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005BAA"/>
                </a:solidFill>
              </a:rPr>
              <a:t>Por dentro da Arquitetura:</a:t>
            </a:r>
          </a:p>
        </p:txBody>
      </p:sp>
      <p:sp>
        <p:nvSpPr>
          <p:cNvPr id="9" name="Seta: para a Direita Listrada 8">
            <a:extLst>
              <a:ext uri="{FF2B5EF4-FFF2-40B4-BE49-F238E27FC236}">
                <a16:creationId xmlns:a16="http://schemas.microsoft.com/office/drawing/2014/main" id="{A140D560-39B3-E642-4C8D-38E63CC4A011}"/>
              </a:ext>
            </a:extLst>
          </p:cNvPr>
          <p:cNvSpPr>
            <a:spLocks noChangeAspect="1"/>
          </p:cNvSpPr>
          <p:nvPr/>
        </p:nvSpPr>
        <p:spPr>
          <a:xfrm>
            <a:off x="61055" y="881225"/>
            <a:ext cx="468000" cy="350375"/>
          </a:xfrm>
          <a:prstGeom prst="stripedRightArrow">
            <a:avLst/>
          </a:prstGeom>
          <a:solidFill>
            <a:srgbClr val="21AC83"/>
          </a:solidFill>
          <a:ln>
            <a:solidFill>
              <a:srgbClr val="117FBB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1987DFB6-1F2D-B67D-AD5F-52EEDFA5BDDB}"/>
              </a:ext>
            </a:extLst>
          </p:cNvPr>
          <p:cNvSpPr txBox="1"/>
          <p:nvPr/>
        </p:nvSpPr>
        <p:spPr>
          <a:xfrm>
            <a:off x="523398" y="1236526"/>
            <a:ext cx="827657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5BAA"/>
                </a:solidFill>
              </a:rPr>
              <a:t>A arquitetura da solução </a:t>
            </a:r>
            <a:r>
              <a:rPr lang="pt-BR" sz="1400" b="1" i="1" dirty="0" err="1">
                <a:solidFill>
                  <a:srgbClr val="21AC83"/>
                </a:solidFill>
              </a:rPr>
              <a:t>EvoluSUS</a:t>
            </a:r>
            <a:r>
              <a:rPr lang="pt-BR" sz="1400" dirty="0">
                <a:solidFill>
                  <a:srgbClr val="005BAA"/>
                </a:solidFill>
              </a:rPr>
              <a:t> foi estruturada em camadas para garantir organização, </a:t>
            </a:r>
            <a:r>
              <a:rPr lang="pt-BR" sz="1400" b="1" dirty="0">
                <a:solidFill>
                  <a:srgbClr val="005BAA"/>
                </a:solidFill>
              </a:rPr>
              <a:t>rastreabilidade e clareza no fluxo dos dados</a:t>
            </a:r>
            <a:r>
              <a:rPr lang="pt-BR" sz="1400" dirty="0">
                <a:solidFill>
                  <a:srgbClr val="005BAA"/>
                </a:solidFill>
              </a:rPr>
              <a:t>, seguindo uma abordagem </a:t>
            </a:r>
            <a:r>
              <a:rPr lang="pt-BR" sz="1400" dirty="0" err="1">
                <a:solidFill>
                  <a:srgbClr val="005BAA"/>
                </a:solidFill>
              </a:rPr>
              <a:t>Lakehouse</a:t>
            </a:r>
            <a:r>
              <a:rPr lang="pt-BR" sz="1400" dirty="0">
                <a:solidFill>
                  <a:srgbClr val="005BAA"/>
                </a:solidFill>
              </a:rPr>
              <a:t> baseada no padrão </a:t>
            </a:r>
            <a:r>
              <a:rPr lang="pt-BR" sz="1400" dirty="0" err="1">
                <a:solidFill>
                  <a:srgbClr val="005BAA"/>
                </a:solidFill>
              </a:rPr>
              <a:t>Medallion</a:t>
            </a:r>
            <a:r>
              <a:rPr lang="pt-BR" sz="1400" dirty="0">
                <a:solidFill>
                  <a:srgbClr val="005BAA"/>
                </a:solidFill>
              </a:rPr>
              <a:t>. </a:t>
            </a:r>
          </a:p>
          <a:p>
            <a:r>
              <a:rPr lang="pt-BR" sz="1400" dirty="0">
                <a:solidFill>
                  <a:srgbClr val="005BAA"/>
                </a:solidFill>
              </a:rPr>
              <a:t>Na camada de </a:t>
            </a:r>
            <a:r>
              <a:rPr lang="pt-BR" sz="1400" b="1" u="sng" dirty="0">
                <a:solidFill>
                  <a:srgbClr val="005BAA"/>
                </a:solidFill>
              </a:rPr>
              <a:t>Aquisição de Dados</a:t>
            </a:r>
            <a:r>
              <a:rPr lang="pt-BR" sz="1400" dirty="0">
                <a:solidFill>
                  <a:srgbClr val="005BAA"/>
                </a:solidFill>
              </a:rPr>
              <a:t>, as informações são coletadas em formatos como </a:t>
            </a:r>
            <a:r>
              <a:rPr lang="pt-BR" sz="1400" b="1" i="1" dirty="0">
                <a:solidFill>
                  <a:srgbClr val="005BAA"/>
                </a:solidFill>
              </a:rPr>
              <a:t>DBC, DBF, JSON e CSV</a:t>
            </a:r>
            <a:r>
              <a:rPr lang="pt-BR" sz="1400" dirty="0">
                <a:solidFill>
                  <a:srgbClr val="005BAA"/>
                </a:solidFill>
              </a:rPr>
              <a:t>, sendo armazenadas na Landing Zone para preservação e controle histórico, cujas fontes públicas de saúde são: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i="1" dirty="0">
                <a:solidFill>
                  <a:srgbClr val="005BAA"/>
                </a:solidFill>
              </a:rPr>
              <a:t>FTP DataSUS;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i="1" dirty="0">
                <a:solidFill>
                  <a:srgbClr val="005BAA"/>
                </a:solidFill>
              </a:rPr>
              <a:t>APIs/</a:t>
            </a:r>
            <a:r>
              <a:rPr lang="pt-BR" sz="1400" b="1" i="1" dirty="0" err="1">
                <a:solidFill>
                  <a:srgbClr val="005BAA"/>
                </a:solidFill>
              </a:rPr>
              <a:t>OpenDataSUS</a:t>
            </a:r>
            <a:r>
              <a:rPr lang="pt-BR" sz="1400" b="1" i="1" dirty="0">
                <a:solidFill>
                  <a:srgbClr val="005BAA"/>
                </a:solidFill>
              </a:rPr>
              <a:t>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i="1" dirty="0" err="1">
                <a:solidFill>
                  <a:srgbClr val="005BAA"/>
                </a:solidFill>
              </a:rPr>
              <a:t>TabNet</a:t>
            </a:r>
            <a:r>
              <a:rPr lang="pt-BR" sz="1400" b="1" i="1" dirty="0">
                <a:solidFill>
                  <a:srgbClr val="005BAA"/>
                </a:solidFill>
              </a:rPr>
              <a:t>.</a:t>
            </a:r>
          </a:p>
          <a:p>
            <a:endParaRPr lang="pt-BR" sz="1400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Na camada de </a:t>
            </a:r>
            <a:r>
              <a:rPr lang="pt-BR" sz="1400" b="1" u="sng" dirty="0">
                <a:solidFill>
                  <a:srgbClr val="005BAA"/>
                </a:solidFill>
              </a:rPr>
              <a:t>Ingestão de Dados</a:t>
            </a:r>
            <a:r>
              <a:rPr lang="pt-BR" sz="1400" dirty="0">
                <a:solidFill>
                  <a:srgbClr val="005BAA"/>
                </a:solidFill>
              </a:rPr>
              <a:t>, o </a:t>
            </a:r>
            <a:r>
              <a:rPr lang="pt-BR" sz="1400" b="1" i="1" dirty="0">
                <a:solidFill>
                  <a:srgbClr val="C00000"/>
                </a:solidFill>
              </a:rPr>
              <a:t>Oracle Data </a:t>
            </a:r>
            <a:r>
              <a:rPr lang="pt-BR" sz="1400" b="1" i="1" dirty="0" err="1">
                <a:solidFill>
                  <a:srgbClr val="C00000"/>
                </a:solidFill>
              </a:rPr>
              <a:t>Ingestion</a:t>
            </a:r>
            <a:r>
              <a:rPr lang="pt-BR" sz="1400" b="1" i="1" dirty="0">
                <a:solidFill>
                  <a:srgbClr val="C00000"/>
                </a:solidFill>
              </a:rPr>
              <a:t> (ODI) </a:t>
            </a:r>
            <a:r>
              <a:rPr lang="pt-BR" sz="1400" dirty="0">
                <a:solidFill>
                  <a:srgbClr val="005BAA"/>
                </a:solidFill>
              </a:rPr>
              <a:t>realiza a orquestração dos processos, incluindo busca dos arquivos, validação inicial dos esquemas, conversão para formatos analíticos e persistência na</a:t>
            </a:r>
            <a:r>
              <a:rPr lang="pt-BR" sz="1400" b="1" dirty="0">
                <a:solidFill>
                  <a:srgbClr val="005BAA"/>
                </a:solidFill>
              </a:rPr>
              <a:t> Camada Bronze</a:t>
            </a:r>
            <a:r>
              <a:rPr lang="pt-BR" sz="1400" dirty="0">
                <a:solidFill>
                  <a:srgbClr val="005BAA"/>
                </a:solidFill>
              </a:rPr>
              <a:t>, representada pelo catálogo </a:t>
            </a:r>
            <a:r>
              <a:rPr lang="pt-BR" sz="1400" i="1" dirty="0" err="1">
                <a:solidFill>
                  <a:srgbClr val="005BAA"/>
                </a:solidFill>
              </a:rPr>
              <a:t>bronze.evolusus</a:t>
            </a:r>
            <a:r>
              <a:rPr lang="pt-BR" sz="1400" dirty="0">
                <a:solidFill>
                  <a:srgbClr val="005BAA"/>
                </a:solidFill>
              </a:rPr>
              <a:t>.</a:t>
            </a:r>
          </a:p>
          <a:p>
            <a:endParaRPr lang="pt-BR" sz="1400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Em seguida, na etapa de </a:t>
            </a:r>
            <a:r>
              <a:rPr lang="pt-BR" sz="1400" b="1" u="sng" dirty="0">
                <a:solidFill>
                  <a:srgbClr val="005BAA"/>
                </a:solidFill>
              </a:rPr>
              <a:t>Tratamento e Transformação (ETL)</a:t>
            </a:r>
            <a:r>
              <a:rPr lang="pt-BR" sz="1400" dirty="0">
                <a:solidFill>
                  <a:srgbClr val="005BAA"/>
                </a:solidFill>
              </a:rPr>
              <a:t>, o </a:t>
            </a:r>
            <a:r>
              <a:rPr lang="pt-BR" sz="1400" b="1" i="1" dirty="0" err="1">
                <a:solidFill>
                  <a:srgbClr val="C00000"/>
                </a:solidFill>
              </a:rPr>
              <a:t>Autonomous</a:t>
            </a:r>
            <a:r>
              <a:rPr lang="pt-BR" sz="1400" b="1" i="1" dirty="0">
                <a:solidFill>
                  <a:srgbClr val="C00000"/>
                </a:solidFill>
              </a:rPr>
              <a:t> Data Lake (ADLC) </a:t>
            </a:r>
            <a:r>
              <a:rPr lang="pt-BR" sz="1400" dirty="0">
                <a:solidFill>
                  <a:srgbClr val="005BAA"/>
                </a:solidFill>
              </a:rPr>
              <a:t>executa notebooks e workflows responsáveis por limpeza, tratamento de nulos, cruzamentos, padronizações e geração de indicadores, armazenando os dados tratados na </a:t>
            </a:r>
            <a:r>
              <a:rPr lang="pt-BR" sz="1400" b="1" dirty="0">
                <a:solidFill>
                  <a:srgbClr val="005BAA"/>
                </a:solidFill>
              </a:rPr>
              <a:t>Camada Silver</a:t>
            </a:r>
            <a:r>
              <a:rPr lang="pt-BR" sz="1400" dirty="0">
                <a:solidFill>
                  <a:srgbClr val="005BAA"/>
                </a:solidFill>
              </a:rPr>
              <a:t>, no catálogo </a:t>
            </a:r>
            <a:r>
              <a:rPr lang="pt-BR" sz="1400" i="1" dirty="0" err="1">
                <a:solidFill>
                  <a:srgbClr val="005BAA"/>
                </a:solidFill>
              </a:rPr>
              <a:t>silver.evolusus</a:t>
            </a:r>
            <a:r>
              <a:rPr lang="pt-BR" sz="1400" dirty="0">
                <a:solidFill>
                  <a:srgbClr val="005BAA"/>
                </a:solidFill>
              </a:rPr>
              <a:t>. </a:t>
            </a:r>
          </a:p>
          <a:p>
            <a:endParaRPr lang="pt-BR" sz="1400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Na camada de </a:t>
            </a:r>
            <a:r>
              <a:rPr lang="pt-BR" sz="1400" b="1" u="sng" dirty="0">
                <a:solidFill>
                  <a:srgbClr val="005BAA"/>
                </a:solidFill>
              </a:rPr>
              <a:t>Consumo</a:t>
            </a:r>
            <a:r>
              <a:rPr lang="pt-BR" sz="1400" dirty="0">
                <a:solidFill>
                  <a:srgbClr val="005BAA"/>
                </a:solidFill>
              </a:rPr>
              <a:t>, os dados da Silver são consolidados na </a:t>
            </a:r>
            <a:r>
              <a:rPr lang="pt-BR" sz="1400" b="1" dirty="0">
                <a:solidFill>
                  <a:srgbClr val="005BAA"/>
                </a:solidFill>
              </a:rPr>
              <a:t>Camada Gold</a:t>
            </a:r>
            <a:r>
              <a:rPr lang="pt-BR" sz="1400" dirty="0">
                <a:solidFill>
                  <a:srgbClr val="005BAA"/>
                </a:solidFill>
              </a:rPr>
              <a:t>, no catálogo </a:t>
            </a:r>
            <a:r>
              <a:rPr lang="pt-BR" sz="1400" i="1" dirty="0" err="1">
                <a:solidFill>
                  <a:srgbClr val="005BAA"/>
                </a:solidFill>
              </a:rPr>
              <a:t>gold.evolusus</a:t>
            </a:r>
            <a:r>
              <a:rPr lang="pt-BR" sz="1400" dirty="0">
                <a:solidFill>
                  <a:srgbClr val="005BAA"/>
                </a:solidFill>
              </a:rPr>
              <a:t>, formando tabelas analíticas e visões otimizadas para uso por APIs com </a:t>
            </a:r>
            <a:r>
              <a:rPr lang="pt-BR" sz="1400" b="1" i="1" dirty="0">
                <a:solidFill>
                  <a:srgbClr val="C00000"/>
                </a:solidFill>
              </a:rPr>
              <a:t>Oracle </a:t>
            </a:r>
            <a:r>
              <a:rPr lang="pt-BR" sz="1400" b="1" i="1" dirty="0" err="1">
                <a:solidFill>
                  <a:srgbClr val="C00000"/>
                </a:solidFill>
              </a:rPr>
              <a:t>Integration</a:t>
            </a:r>
            <a:r>
              <a:rPr lang="pt-BR" sz="1400" b="1" i="1" dirty="0">
                <a:solidFill>
                  <a:srgbClr val="C00000"/>
                </a:solidFill>
              </a:rPr>
              <a:t> Cloud (OIC).</a:t>
            </a:r>
          </a:p>
          <a:p>
            <a:endParaRPr lang="pt-BR" sz="1400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Por fim, na etapa de </a:t>
            </a:r>
            <a:r>
              <a:rPr lang="pt-BR" sz="1400" b="1" u="sng" dirty="0">
                <a:solidFill>
                  <a:srgbClr val="005BAA"/>
                </a:solidFill>
              </a:rPr>
              <a:t>Visualização</a:t>
            </a:r>
            <a:r>
              <a:rPr lang="pt-BR" sz="1400" dirty="0">
                <a:solidFill>
                  <a:srgbClr val="005BAA"/>
                </a:solidFill>
              </a:rPr>
              <a:t>, o </a:t>
            </a:r>
            <a:r>
              <a:rPr lang="pt-BR" sz="1400" b="1" i="1" dirty="0">
                <a:solidFill>
                  <a:srgbClr val="C00000"/>
                </a:solidFill>
              </a:rPr>
              <a:t>Oracle </a:t>
            </a:r>
            <a:r>
              <a:rPr lang="pt-BR" sz="1400" b="1" i="1" dirty="0" err="1">
                <a:solidFill>
                  <a:srgbClr val="C00000"/>
                </a:solidFill>
              </a:rPr>
              <a:t>Analytics</a:t>
            </a:r>
            <a:r>
              <a:rPr lang="pt-BR" sz="1400" b="1" i="1" dirty="0">
                <a:solidFill>
                  <a:srgbClr val="C00000"/>
                </a:solidFill>
              </a:rPr>
              <a:t> Cloud (OAC) </a:t>
            </a:r>
            <a:r>
              <a:rPr lang="pt-BR" sz="1400" dirty="0">
                <a:solidFill>
                  <a:srgbClr val="005BAA"/>
                </a:solidFill>
              </a:rPr>
              <a:t>consome os dados Gold para criação de </a:t>
            </a:r>
            <a:r>
              <a:rPr lang="pt-BR" sz="1400" b="1" dirty="0">
                <a:solidFill>
                  <a:srgbClr val="005BAA"/>
                </a:solidFill>
              </a:rPr>
              <a:t>dashboards e relatórios interativos</a:t>
            </a:r>
            <a:r>
              <a:rPr lang="pt-BR" sz="1400" dirty="0">
                <a:solidFill>
                  <a:srgbClr val="005BAA"/>
                </a:solidFill>
              </a:rPr>
              <a:t>, apoiando a análise dos indicadores.</a:t>
            </a:r>
            <a:endParaRPr lang="pt-BR" sz="1400" i="1" dirty="0">
              <a:solidFill>
                <a:srgbClr val="005BAA"/>
              </a:solidFill>
            </a:endParaRPr>
          </a:p>
          <a:p>
            <a:endParaRPr lang="pt-BR" sz="1400" i="1" dirty="0">
              <a:solidFill>
                <a:srgbClr val="005BAA"/>
              </a:solidFill>
            </a:endParaRPr>
          </a:p>
          <a:p>
            <a:r>
              <a:rPr lang="pt-BR" sz="1400" dirty="0">
                <a:solidFill>
                  <a:srgbClr val="005BAA"/>
                </a:solidFill>
              </a:rPr>
              <a:t>Durante todo o processo de trabalho, usaremos o </a:t>
            </a:r>
            <a:r>
              <a:rPr lang="pt-BR" sz="1400" b="1" i="1" dirty="0" err="1">
                <a:solidFill>
                  <a:srgbClr val="C00000"/>
                </a:solidFill>
              </a:rPr>
              <a:t>Select</a:t>
            </a:r>
            <a:r>
              <a:rPr lang="pt-BR" sz="1400" b="1" i="1" dirty="0">
                <a:solidFill>
                  <a:srgbClr val="C00000"/>
                </a:solidFill>
              </a:rPr>
              <a:t> AI</a:t>
            </a:r>
            <a:r>
              <a:rPr lang="pt-BR" sz="1400" dirty="0">
                <a:solidFill>
                  <a:srgbClr val="005BAA"/>
                </a:solidFill>
              </a:rPr>
              <a:t>, tecnologia que permite textos em linguagem natural fazer consultas em SQL.</a:t>
            </a:r>
          </a:p>
        </p:txBody>
      </p:sp>
    </p:spTree>
    <p:extLst>
      <p:ext uri="{BB962C8B-B14F-4D97-AF65-F5344CB8AC3E}">
        <p14:creationId xmlns:p14="http://schemas.microsoft.com/office/powerpoint/2010/main" val="105877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EF71C-013C-BCA2-57D1-A20FFCAA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741A12-826B-57F3-9A2D-E0780226F02F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D33877FC-6923-9777-FE73-ADC970F1ADC4}"/>
              </a:ext>
            </a:extLst>
          </p:cNvPr>
          <p:cNvSpPr txBox="1"/>
          <p:nvPr/>
        </p:nvSpPr>
        <p:spPr>
          <a:xfrm>
            <a:off x="276131" y="104150"/>
            <a:ext cx="51831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Tecnologias Utilizadas</a:t>
            </a:r>
            <a:endParaRPr sz="2800" b="1" i="1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2ED3C6B-2F8A-BE99-2B19-26690CD75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947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8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DD063-BC06-B08D-A473-90CD6D57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9418BD1-FB65-4205-A713-CE27F52077AA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3361BD5-4826-21DE-941C-5E80D1E2A50C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79F6BDB-FF9B-F460-70CD-4AC5FF53A803}"/>
                </a:ext>
              </a:extLst>
            </p:cNvPr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BA99D8F0-1CD9-1348-DEA8-230FAB9FEBF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5FD6E07-F47A-D71E-AA47-4311F5B4DB58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7E9A8-1FC0-7E23-0746-1BB5FE5A90BB}"/>
              </a:ext>
            </a:extLst>
          </p:cNvPr>
          <p:cNvSpPr txBox="1"/>
          <p:nvPr/>
        </p:nvSpPr>
        <p:spPr>
          <a:xfrm>
            <a:off x="276131" y="104150"/>
            <a:ext cx="6413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Protótipo da Solução Proposta</a:t>
            </a:r>
            <a:endParaRPr sz="2800" b="1" i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319CCA5-0354-7621-6719-7EC67369C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0566"/>
            <a:ext cx="9144000" cy="5146234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E0A74B5F-2F2D-3DF8-146B-A5805E25AE84}"/>
              </a:ext>
            </a:extLst>
          </p:cNvPr>
          <p:cNvSpPr txBox="1"/>
          <p:nvPr/>
        </p:nvSpPr>
        <p:spPr>
          <a:xfrm>
            <a:off x="523398" y="955043"/>
            <a:ext cx="4935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005BAA"/>
                </a:solidFill>
              </a:rPr>
              <a:t>Modelo Esperado:</a:t>
            </a:r>
          </a:p>
        </p:txBody>
      </p:sp>
      <p:sp>
        <p:nvSpPr>
          <p:cNvPr id="10" name="Seta: para a Direita Listrada 9">
            <a:extLst>
              <a:ext uri="{FF2B5EF4-FFF2-40B4-BE49-F238E27FC236}">
                <a16:creationId xmlns:a16="http://schemas.microsoft.com/office/drawing/2014/main" id="{E0064511-CF55-C787-8691-E90912B96C87}"/>
              </a:ext>
            </a:extLst>
          </p:cNvPr>
          <p:cNvSpPr>
            <a:spLocks noChangeAspect="1"/>
          </p:cNvSpPr>
          <p:nvPr/>
        </p:nvSpPr>
        <p:spPr>
          <a:xfrm>
            <a:off x="61055" y="1053242"/>
            <a:ext cx="468000" cy="350375"/>
          </a:xfrm>
          <a:prstGeom prst="stripedRightArrow">
            <a:avLst/>
          </a:prstGeom>
          <a:solidFill>
            <a:srgbClr val="21AC83"/>
          </a:solidFill>
          <a:ln>
            <a:solidFill>
              <a:srgbClr val="117FBB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9945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40CD2-7136-7BF7-6EE7-2124AB3BE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31F3159-8C71-3A93-3FB3-FA5D8F658AD5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B25D4B3-64FD-85C8-BD2C-7372962840DC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3868168-FECC-F2C1-7DF3-94EB9D55A0E0}"/>
                </a:ext>
              </a:extLst>
            </p:cNvPr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284B9146-1D34-EE17-4C32-3A64EA30E676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4C3CABD-00B0-E483-C511-1D07790A48BC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E41E0-1A61-7079-9AC1-03CA7953EFEB}"/>
              </a:ext>
            </a:extLst>
          </p:cNvPr>
          <p:cNvSpPr txBox="1"/>
          <p:nvPr/>
        </p:nvSpPr>
        <p:spPr>
          <a:xfrm>
            <a:off x="276131" y="104150"/>
            <a:ext cx="64956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Protótipo da Solução Proposta </a:t>
            </a:r>
            <a:endParaRPr sz="2800" b="1" i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52F9C9-7467-A387-3F04-A304E164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9655"/>
            <a:ext cx="9144000" cy="4857750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52B30187-B61A-A75C-E80F-9E992709B9E4}"/>
              </a:ext>
            </a:extLst>
          </p:cNvPr>
          <p:cNvSpPr txBox="1"/>
          <p:nvPr/>
        </p:nvSpPr>
        <p:spPr>
          <a:xfrm>
            <a:off x="523398" y="1063681"/>
            <a:ext cx="4935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1" dirty="0">
                <a:solidFill>
                  <a:srgbClr val="005BAA"/>
                </a:solidFill>
              </a:rPr>
              <a:t>Modelo Atual:</a:t>
            </a:r>
          </a:p>
        </p:txBody>
      </p:sp>
      <p:sp>
        <p:nvSpPr>
          <p:cNvPr id="13" name="Seta: para a Direita Listrada 12">
            <a:extLst>
              <a:ext uri="{FF2B5EF4-FFF2-40B4-BE49-F238E27FC236}">
                <a16:creationId xmlns:a16="http://schemas.microsoft.com/office/drawing/2014/main" id="{B280374D-ED88-946E-270D-C371E700CAB1}"/>
              </a:ext>
            </a:extLst>
          </p:cNvPr>
          <p:cNvSpPr>
            <a:spLocks noChangeAspect="1"/>
          </p:cNvSpPr>
          <p:nvPr/>
        </p:nvSpPr>
        <p:spPr>
          <a:xfrm>
            <a:off x="61055" y="1161880"/>
            <a:ext cx="468000" cy="350375"/>
          </a:xfrm>
          <a:prstGeom prst="stripedRightArrow">
            <a:avLst/>
          </a:prstGeom>
          <a:solidFill>
            <a:srgbClr val="21AC83"/>
          </a:solidFill>
          <a:ln>
            <a:solidFill>
              <a:srgbClr val="117FBB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5347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62649-36F1-5815-6A8F-81BDE1EC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6291713-EB79-9BB1-48DF-EE028C9BAE2A}"/>
              </a:ext>
            </a:extLst>
          </p:cNvPr>
          <p:cNvGrpSpPr/>
          <p:nvPr/>
        </p:nvGrpSpPr>
        <p:grpSpPr>
          <a:xfrm>
            <a:off x="0" y="-210137"/>
            <a:ext cx="9144000" cy="1535428"/>
            <a:chOff x="0" y="-210137"/>
            <a:chExt cx="9144000" cy="153542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2ECA19A-E89C-72EB-AB65-91F63F088001}"/>
                </a:ext>
              </a:extLst>
            </p:cNvPr>
            <p:cNvSpPr/>
            <p:nvPr/>
          </p:nvSpPr>
          <p:spPr>
            <a:xfrm>
              <a:off x="0" y="0"/>
              <a:ext cx="9144000" cy="731520"/>
            </a:xfrm>
            <a:prstGeom prst="rect">
              <a:avLst/>
            </a:prstGeom>
            <a:solidFill>
              <a:srgbClr val="005BAA"/>
            </a:solidFill>
            <a:ln>
              <a:solidFill>
                <a:srgbClr val="005B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423A366-1057-A935-BD77-86FAA8E803CF}"/>
                </a:ext>
              </a:extLst>
            </p:cNvPr>
            <p:cNvSpPr/>
            <p:nvPr/>
          </p:nvSpPr>
          <p:spPr>
            <a:xfrm>
              <a:off x="7955280" y="137160"/>
              <a:ext cx="731520" cy="7315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66D04864-AB97-94DB-24FA-F144DA8210BC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6655" y="-210137"/>
              <a:ext cx="1512000" cy="1535428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70462FD-0988-B931-E958-854BA1F4C533}"/>
              </a:ext>
            </a:extLst>
          </p:cNvPr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DEECF8"/>
          </a:solidFill>
          <a:ln>
            <a:solidFill>
              <a:srgbClr val="DE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2BB6B-D233-1C9A-9D6F-FE38B2038405}"/>
              </a:ext>
            </a:extLst>
          </p:cNvPr>
          <p:cNvSpPr txBox="1"/>
          <p:nvPr/>
        </p:nvSpPr>
        <p:spPr>
          <a:xfrm>
            <a:off x="276131" y="104150"/>
            <a:ext cx="55932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i="1" dirty="0" err="1">
                <a:solidFill>
                  <a:schemeClr val="bg1"/>
                </a:solidFill>
              </a:rPr>
              <a:t>EvoluSUS</a:t>
            </a:r>
            <a:r>
              <a:rPr lang="pt-BR" sz="2800" b="1" i="1" dirty="0">
                <a:solidFill>
                  <a:schemeClr val="bg1"/>
                </a:solidFill>
              </a:rPr>
              <a:t> – Planejamento do Projeto</a:t>
            </a:r>
            <a:endParaRPr sz="2800" b="1" i="1" dirty="0">
              <a:solidFill>
                <a:schemeClr val="bg1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699EBC0-CAC7-08B3-F5E0-BFC94C631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3125"/>
            <a:ext cx="9144000" cy="5293895"/>
          </a:xfrm>
          <a:prstGeom prst="rect">
            <a:avLst/>
          </a:prstGeom>
        </p:spPr>
      </p:pic>
      <p:sp>
        <p:nvSpPr>
          <p:cNvPr id="16" name="TextBox 4">
            <a:extLst>
              <a:ext uri="{FF2B5EF4-FFF2-40B4-BE49-F238E27FC236}">
                <a16:creationId xmlns:a16="http://schemas.microsoft.com/office/drawing/2014/main" id="{EE9A88DC-09C6-8EB3-1882-9C3B80A06CD9}"/>
              </a:ext>
            </a:extLst>
          </p:cNvPr>
          <p:cNvSpPr txBox="1"/>
          <p:nvPr/>
        </p:nvSpPr>
        <p:spPr>
          <a:xfrm>
            <a:off x="0" y="6297147"/>
            <a:ext cx="9144000" cy="2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20" dirty="0">
                <a:solidFill>
                  <a:srgbClr val="005BAA"/>
                </a:solidFill>
              </a:rPr>
              <a:t>https://dataflora.atlassian.net/jira/software/projects/DATAFLORA/boards/1?atlOrigin=eyJpIjoiNTMzNTY1MjM4YzJmNGU1NmE5Yzk2MGQ2YWUxMzQyM2MiLCJwIjoiaiJ9</a:t>
            </a:r>
          </a:p>
        </p:txBody>
      </p:sp>
    </p:spTree>
    <p:extLst>
      <p:ext uri="{BB962C8B-B14F-4D97-AF65-F5344CB8AC3E}">
        <p14:creationId xmlns:p14="http://schemas.microsoft.com/office/powerpoint/2010/main" val="1377887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1228</Words>
  <Application>Microsoft Office PowerPoint</Application>
  <PresentationFormat>Apresentação na tela (4:3)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 Guida</dc:creator>
  <cp:keywords/>
  <dc:description>generated using python-pptx</dc:description>
  <cp:lastModifiedBy>Victor Guida</cp:lastModifiedBy>
  <cp:revision>25</cp:revision>
  <dcterms:created xsi:type="dcterms:W3CDTF">2013-01-27T09:14:16Z</dcterms:created>
  <dcterms:modified xsi:type="dcterms:W3CDTF">2026-08-11T23:11:46Z</dcterms:modified>
  <cp:category/>
</cp:coreProperties>
</file>